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0"/>
    <p:restoredTop sz="94666"/>
  </p:normalViewPr>
  <p:slideViewPr>
    <p:cSldViewPr snapToGrid="0" snapToObjects="1">
      <p:cViewPr varScale="1">
        <p:scale>
          <a:sx n="115" d="100"/>
          <a:sy n="115" d="100"/>
        </p:scale>
        <p:origin x="31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PNU AI BOOSTER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 dirty="0">
                <a:solidFill>
                  <a:srgbClr val="FFFFFF"/>
                </a:solidFill>
                <a:latin typeface="Calibri"/>
                <a:ea typeface="맑은 고딕"/>
              </a:rPr>
              <a:t>AI Booster</a:t>
            </a:r>
          </a:p>
          <a:p>
            <a:pPr algn="l">
              <a:spcAft>
                <a:spcPts val="1600"/>
              </a:spcAft>
            </a:pPr>
            <a:r>
              <a:rPr sz="5200" b="1" dirty="0" err="1">
                <a:solidFill>
                  <a:srgbClr val="58A6FF"/>
                </a:solidFill>
                <a:latin typeface="Calibri"/>
                <a:ea typeface="맑은 고딕"/>
              </a:rPr>
              <a:t>최종발표</a:t>
            </a:r>
            <a:endParaRPr sz="5200" b="1" dirty="0">
              <a:solidFill>
                <a:srgbClr val="58A6FF"/>
              </a:solidFill>
              <a:latin typeface="Calibri"/>
              <a:ea typeface="맑은 고딕"/>
            </a:endParaRPr>
          </a:p>
          <a:p>
            <a:pPr algn="l">
              <a:spcAft>
                <a:spcPts val="0"/>
              </a:spcAft>
            </a:pPr>
            <a:r>
              <a:rPr sz="2200" b="0" dirty="0">
                <a:solidFill>
                  <a:srgbClr val="C9D1D9"/>
                </a:solidFill>
                <a:latin typeface="Calibri"/>
                <a:ea typeface="맑은 고딕"/>
              </a:rPr>
              <a:t>Team AISFA  |  </a:t>
            </a:r>
            <a:r>
              <a:rPr sz="2200" b="0" dirty="0" err="1">
                <a:solidFill>
                  <a:srgbClr val="C9D1D9"/>
                </a:solidFill>
                <a:latin typeface="Calibri"/>
                <a:ea typeface="맑은 고딕"/>
              </a:rPr>
              <a:t>DrillMusic</a:t>
            </a:r>
            <a:endParaRPr sz="2200" b="0" dirty="0">
              <a:solidFill>
                <a:srgbClr val="C9D1D9"/>
              </a:solidFill>
              <a:latin typeface="Calibri"/>
              <a:ea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212080"/>
            <a:ext cx="29260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5212080"/>
            <a:ext cx="54864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53492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맑은 고딕"/>
              </a:rPr>
              <a:t>김성욱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alibri"/>
                <a:ea typeface="맑은 고딕"/>
              </a:rPr>
              <a:t>Team Leader / PM / App Dev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212080"/>
            <a:ext cx="29260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5212080"/>
            <a:ext cx="54864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53492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맑은 고딕"/>
              </a:rPr>
              <a:t>문경환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alibri"/>
                <a:ea typeface="맑은 고딕"/>
              </a:rPr>
              <a:t>AI Researcher / AI Dev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5212080"/>
            <a:ext cx="292608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0" y="5212080"/>
            <a:ext cx="54864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5349240"/>
            <a:ext cx="2606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맑은 고딕"/>
              </a:rPr>
              <a:t>전진혁</a:t>
            </a:r>
          </a:p>
          <a:p>
            <a:pPr algn="l"/>
            <a:r>
              <a:rPr sz="1100" b="0">
                <a:solidFill>
                  <a:srgbClr val="8B949E"/>
                </a:solidFill>
                <a:latin typeface="Calibri"/>
                <a:ea typeface="맑은 고딕"/>
              </a:rPr>
              <a:t>Cloud &amp; Infra Specialist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지난 발표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0352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4864" cy="4389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25801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dirty="0">
                <a:solidFill>
                  <a:srgbClr val="FF6B6B"/>
                </a:solidFill>
                <a:latin typeface="Calibri"/>
                <a:ea typeface="맑은 고딕"/>
              </a:rPr>
              <a:t>202</a:t>
            </a:r>
            <a:r>
              <a:rPr lang="en-US" altLang="ko-KR" sz="1800" b="1" dirty="0">
                <a:solidFill>
                  <a:srgbClr val="FF6B6B"/>
                </a:solidFill>
                <a:latin typeface="Calibri"/>
                <a:ea typeface="맑은 고딕"/>
              </a:rPr>
              <a:t>5</a:t>
            </a:r>
            <a:r>
              <a:rPr sz="1800" b="1" dirty="0">
                <a:solidFill>
                  <a:srgbClr val="FF6B6B"/>
                </a:solidFill>
                <a:latin typeface="Calibri"/>
                <a:ea typeface="맑은 고딕"/>
              </a:rPr>
              <a:t>.07 </a:t>
            </a:r>
            <a:r>
              <a:rPr sz="1800" b="1" dirty="0" err="1">
                <a:solidFill>
                  <a:srgbClr val="FF6B6B"/>
                </a:solidFill>
                <a:latin typeface="Calibri"/>
                <a:ea typeface="맑은 고딕"/>
              </a:rPr>
              <a:t>기준</a:t>
            </a:r>
            <a:r>
              <a:rPr sz="1800" b="1" dirty="0">
                <a:solidFill>
                  <a:srgbClr val="FF6B6B"/>
                </a:solidFill>
                <a:latin typeface="Calibri"/>
                <a:ea typeface="맑은 고딕"/>
              </a:rPr>
              <a:t> — </a:t>
            </a:r>
            <a:r>
              <a:rPr sz="1800" b="1" dirty="0" err="1">
                <a:solidFill>
                  <a:srgbClr val="FF6B6B"/>
                </a:solidFill>
                <a:latin typeface="Calibri"/>
                <a:ea typeface="맑은 고딕"/>
              </a:rPr>
              <a:t>바이브코딩의</a:t>
            </a:r>
            <a:r>
              <a:rPr sz="1800" b="1" dirty="0">
                <a:solidFill>
                  <a:srgbClr val="FF6B6B"/>
                </a:solidFill>
                <a:latin typeface="Calibri"/>
                <a:ea typeface="맑은 고딕"/>
              </a:rPr>
              <a:t> </a:t>
            </a:r>
            <a:r>
              <a:rPr sz="1800" b="1" dirty="0" err="1">
                <a:solidFill>
                  <a:srgbClr val="FF6B6B"/>
                </a:solidFill>
                <a:latin typeface="Calibri"/>
                <a:ea typeface="맑은 고딕"/>
              </a:rPr>
              <a:t>한계</a:t>
            </a:r>
            <a:endParaRPr sz="1800" b="1" dirty="0">
              <a:solidFill>
                <a:srgbClr val="FF6B6B"/>
              </a:solidFill>
              <a:latin typeface="Calibri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IDE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보조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lang="ko-KR" altLang="en-US" sz="1500" dirty="0">
                <a:solidFill>
                  <a:srgbClr val="C9D1D9"/>
                </a:solidFill>
                <a:latin typeface="Calibri"/>
                <a:ea typeface="맑은 고딕"/>
              </a:rPr>
              <a:t>도구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에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불과</a:t>
            </a:r>
            <a:endParaRPr sz="1500" b="0" dirty="0">
              <a:solidFill>
                <a:srgbClr val="C9D1D9"/>
              </a:solidFill>
              <a:latin typeface="Calibri"/>
              <a:ea typeface="맑은 고딕"/>
            </a:endParaRPr>
          </a:p>
          <a:p>
            <a:pPr algn="l">
              <a:spcAft>
                <a:spcPts val="1200"/>
              </a:spcAft>
            </a:pP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전반적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기능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개발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위임은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위험</a:t>
            </a:r>
            <a:endParaRPr sz="1500" b="0" dirty="0">
              <a:solidFill>
                <a:srgbClr val="C9D1D9"/>
              </a:solidFill>
              <a:latin typeface="Calibri"/>
              <a:ea typeface="맑은 고딕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인간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주도의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좋은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코드가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여전히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핵심</a:t>
            </a:r>
            <a:endParaRPr sz="1400" b="0" dirty="0">
              <a:solidFill>
                <a:srgbClr val="C9D1D9"/>
              </a:solidFill>
              <a:latin typeface="Calibri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 ▸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좋은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변수명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,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적절한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문서화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,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건전한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타입</a:t>
            </a:r>
            <a:endParaRPr sz="1300" b="0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 ▸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높은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응집도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,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작은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단위의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수정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가능한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코드</a:t>
            </a:r>
            <a:endParaRPr sz="1300" b="0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>
              <a:spcAft>
                <a:spcPts val="1200"/>
              </a:spcAft>
            </a:pP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 ▸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작은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context에서도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다룰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수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있는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구조</a:t>
            </a:r>
            <a:endParaRPr sz="1300" b="0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>
              <a:spcAft>
                <a:spcPts val="0"/>
              </a:spcAft>
            </a:pP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데이터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없는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도메인에서는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AI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활용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자체가</a:t>
            </a:r>
            <a:r>
              <a:rPr sz="14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C9D1D9"/>
                </a:solidFill>
                <a:latin typeface="Calibri"/>
                <a:ea typeface="맑은 고딕"/>
              </a:rPr>
              <a:t>어려움</a:t>
            </a:r>
            <a:endParaRPr sz="1400" b="0" dirty="0">
              <a:solidFill>
                <a:srgbClr val="C9D1D9"/>
              </a:solidFill>
              <a:latin typeface="Calibri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30352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" cy="43891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dirty="0" err="1">
                <a:solidFill>
                  <a:srgbClr val="58A6FF"/>
                </a:solidFill>
                <a:latin typeface="Calibri"/>
                <a:ea typeface="맑은 고딕"/>
              </a:rPr>
              <a:t>도전</a:t>
            </a:r>
            <a:r>
              <a:rPr sz="1800" b="1" dirty="0">
                <a:solidFill>
                  <a:srgbClr val="58A6FF"/>
                </a:solidFill>
                <a:latin typeface="Calibri"/>
                <a:ea typeface="맑은 고딕"/>
              </a:rPr>
              <a:t> </a:t>
            </a:r>
            <a:r>
              <a:rPr sz="1800" b="1" dirty="0" err="1">
                <a:solidFill>
                  <a:srgbClr val="58A6FF"/>
                </a:solidFill>
                <a:latin typeface="Calibri"/>
                <a:ea typeface="맑은 고딕"/>
              </a:rPr>
              <a:t>선언</a:t>
            </a:r>
            <a:endParaRPr sz="1800" b="1" dirty="0">
              <a:solidFill>
                <a:srgbClr val="58A6FF"/>
              </a:solidFill>
              <a:latin typeface="Calibri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데이터가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없는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도메인에서</a:t>
            </a:r>
            <a:endParaRPr sz="1500" b="0" dirty="0">
              <a:solidFill>
                <a:srgbClr val="C9D1D9"/>
              </a:solidFill>
              <a:latin typeface="Calibri"/>
              <a:ea typeface="맑은 고딕"/>
            </a:endParaRPr>
          </a:p>
          <a:p>
            <a:pPr algn="l">
              <a:spcAft>
                <a:spcPts val="2000"/>
              </a:spcAft>
            </a:pP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AI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활용에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도전하기로</a:t>
            </a:r>
            <a:r>
              <a:rPr sz="15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500" b="0" dirty="0" err="1">
                <a:solidFill>
                  <a:srgbClr val="C9D1D9"/>
                </a:solidFill>
                <a:latin typeface="Calibri"/>
                <a:ea typeface="맑은 고딕"/>
              </a:rPr>
              <a:t>결정</a:t>
            </a:r>
            <a:endParaRPr sz="1500" b="0" dirty="0">
              <a:solidFill>
                <a:srgbClr val="C9D1D9"/>
              </a:solidFill>
              <a:latin typeface="Calibri"/>
              <a:ea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 err="1">
                <a:solidFill>
                  <a:srgbClr val="FFFFFF"/>
                </a:solidFill>
                <a:latin typeface="Calibri"/>
                <a:ea typeface="맑은 고딕"/>
              </a:rPr>
              <a:t>DrillMusic</a:t>
            </a:r>
            <a:r>
              <a:rPr sz="2200" b="1" dirty="0">
                <a:solidFill>
                  <a:srgbClr val="FFFFFF"/>
                </a:solidFill>
                <a:latin typeface="Calibri"/>
                <a:ea typeface="맑은 고딕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  <a:ea typeface="맑은 고딕"/>
              </a:rPr>
              <a:t>프로젝트</a:t>
            </a:r>
            <a:r>
              <a:rPr sz="2200" b="1" dirty="0">
                <a:solidFill>
                  <a:srgbClr val="FFFFFF"/>
                </a:solidFill>
                <a:latin typeface="Calibri"/>
                <a:ea typeface="맑은 고딕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  <a:ea typeface="맑은 고딕"/>
              </a:rPr>
              <a:t>착수</a:t>
            </a:r>
            <a:endParaRPr sz="2200" b="1" dirty="0">
              <a:solidFill>
                <a:srgbClr val="FFFFFF"/>
              </a:solidFill>
              <a:latin typeface="Calibri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AI DJ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시스템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—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프로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DJ를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위한</a:t>
            </a:r>
            <a:endParaRPr sz="1400" b="0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>
              <a:spcAft>
                <a:spcPts val="1600"/>
              </a:spcAft>
            </a:pP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AI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기반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트랙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추천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시스템</a:t>
            </a:r>
            <a:r>
              <a:rPr sz="14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400" b="0" dirty="0" err="1">
                <a:solidFill>
                  <a:srgbClr val="8B949E"/>
                </a:solidFill>
                <a:latin typeface="Calibri"/>
                <a:ea typeface="맑은 고딕"/>
              </a:rPr>
              <a:t>개발</a:t>
            </a:r>
            <a:endParaRPr sz="1400" b="0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BPM, Key,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에너지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,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장르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,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관객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반응을</a:t>
            </a:r>
            <a:endParaRPr sz="1300" b="0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>
              <a:spcAft>
                <a:spcPts val="0"/>
              </a:spcAft>
            </a:pP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동시에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고려하는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인지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부하를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줄여주는</a:t>
            </a:r>
            <a:r>
              <a:rPr sz="13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300" b="0" dirty="0" err="1">
                <a:solidFill>
                  <a:srgbClr val="8B949E"/>
                </a:solidFill>
                <a:latin typeface="Calibri"/>
                <a:ea typeface="맑은 고딕"/>
              </a:rPr>
              <a:t>도구</a:t>
            </a:r>
            <a:endParaRPr sz="1300" b="0" dirty="0">
              <a:solidFill>
                <a:srgbClr val="8B949E"/>
              </a:solidFill>
              <a:latin typeface="Calibri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투 트랙 비교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3108960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8B949E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VS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4754880" cy="4206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4864" cy="42062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297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3FB950"/>
                </a:solidFill>
                <a:latin typeface="Calibri"/>
                <a:ea typeface="맑은 고딕"/>
              </a:rPr>
              <a:t>Human Driven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8B949E"/>
                </a:solidFill>
                <a:latin typeface="Calibri"/>
                <a:ea typeface="맑은 고딕"/>
              </a:rPr>
              <a:t>인간 주도 + AI 보조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9D1D9"/>
                </a:solidFill>
                <a:latin typeface="Calibri"/>
                <a:ea typeface="맑은 고딕"/>
              </a:rPr>
              <a:t>도구: Cursor AI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인간 개발자가 설계·구현을 주도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AI는 코딩 보조 역할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A657"/>
                </a:solidFill>
                <a:latin typeface="Calibri"/>
                <a:ea typeface="맑은 고딕"/>
              </a:rPr>
              <a:t>비용: 인당 $20/월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Calibri"/>
                <a:ea typeface="맑은 고딕"/>
              </a:rPr>
              <a:t>3명 × 약 1.5개월 개발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920240"/>
            <a:ext cx="4754880" cy="4206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1920240"/>
            <a:ext cx="54864" cy="4206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148840"/>
            <a:ext cx="4297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58A6FF"/>
                </a:solidFill>
                <a:latin typeface="Calibri"/>
                <a:ea typeface="맑은 고딕"/>
              </a:rPr>
              <a:t>AI Driven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8B949E"/>
                </a:solidFill>
                <a:latin typeface="Calibri"/>
                <a:ea typeface="맑은 고딕"/>
              </a:rPr>
              <a:t>완전 AI 주도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9D1D9"/>
                </a:solidFill>
                <a:latin typeface="Calibri"/>
                <a:ea typeface="맑은 고딕"/>
              </a:rPr>
              <a:t>도구: Claude Code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AI 에이전트가 설계·구현을 주도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인간은 방향 제시 및 검토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A657"/>
                </a:solidFill>
                <a:latin typeface="Calibri"/>
                <a:ea typeface="맑은 고딕"/>
              </a:rPr>
              <a:t>비용: 인당 $100/월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Calibri"/>
                <a:ea typeface="맑은 고딕"/>
              </a:rPr>
              <a:t>서브에이전트 / 에이전트 팀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6263640"/>
            <a:ext cx="5760720" cy="41148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626364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C9D1D9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공통 목표:  AI DJ 음악 추천 시스템 개발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HUMAN 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Human Driven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530352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" cy="2011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FB950"/>
                </a:solidFill>
                <a:latin typeface="Calibri"/>
                <a:ea typeface="맑은 고딕"/>
              </a:rPr>
              <a:t>기술 스택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App    Electron + React + TypeScript + Vite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AI      CLAP 임베딩, FAISS 고속 유사도 검색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DB     SQLite (로컬), Zustand (상태 관리)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연동   node-midi, chokidar (파일 감시)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6052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54864" cy="2286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3FB950"/>
                </a:solidFill>
                <a:latin typeface="Calibri"/>
                <a:ea typeface="맑은 고딕"/>
              </a:rPr>
              <a:t>추천 알고리즘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BPM/Key/에너지 호환성 필터링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CLAP 임베딩 기반 음질감 매칭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에너지 목표 (maintain/up/down/peak)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히스토리 기반 다양성 관리로 반복 방지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029200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~1.5개월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개발 기간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474720"/>
            <a:ext cx="5029200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61188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3명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AI전문가 + 도메인전문가</a:t>
            </a:r>
            <a:br/>
            <a:r>
              <a:t>+ 앱 개발자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029200"/>
            <a:ext cx="5029200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516636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31개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760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테스트 (100% 통과)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AI 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AI Driven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530352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" cy="2011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58A6FF"/>
                </a:solidFill>
                <a:latin typeface="Calibri"/>
                <a:ea typeface="맑은 고딕"/>
              </a:rPr>
              <a:t>기술 스택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App    Tauri v2 + React + TypeScript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DSP   Rust (cpal, midir) — 오디오 처리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AI      Python (Essentia, PyTorch, ONNX)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API    FastAPI +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60520"/>
            <a:ext cx="530352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54864" cy="2286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58A6FF"/>
                </a:solidFill>
                <a:latin typeface="Calibri"/>
                <a:ea typeface="맑은 고딕"/>
              </a:rPr>
              <a:t>아키텍처 &amp; 주요 기능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Clean Architecture 4계층 구조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트랙 분석 / AI 추천 / AI 블렌드 / 라이브러리 임포트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MIDI 출력 / 커뮤니티 / 분석 대시보드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9D1D9"/>
                </a:solidFill>
                <a:latin typeface="Calibri"/>
                <a:ea typeface="맑은 고딕"/>
              </a:rPr>
              <a:t>Rekordbox, Serato, Traktor 지원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029200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~1시간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추천 알고리즘 개발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474720"/>
            <a:ext cx="5029200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361188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~2일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전체 시스템 개발</a:t>
            </a:r>
            <a:br/>
            <a:r>
              <a:t>(실질 1일 미만)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029200"/>
            <a:ext cx="5029200" cy="1325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516636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823+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760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테스트 자동 작성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충격적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926080" cy="182880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377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맑은 고딕"/>
              </a:rPr>
              <a:t>추천 알고리즘</a:t>
            </a:r>
          </a:p>
          <a:p>
            <a:pPr algn="l"/>
            <a:r>
              <a:rPr sz="1200" b="0">
                <a:solidFill>
                  <a:srgbClr val="8B949E"/>
                </a:solidFill>
                <a:latin typeface="Calibri"/>
                <a:ea typeface="맑은 고딕"/>
              </a:rPr>
              <a:t>음악 추천 로직 개발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2011680"/>
            <a:ext cx="38404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0" y="2011680"/>
            <a:ext cx="54864" cy="1828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FB950"/>
                </a:solidFill>
                <a:latin typeface="Calibri"/>
                <a:ea typeface="맑은 고딕"/>
              </a:rPr>
              <a:t>Human Driven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맑은 고딕"/>
              </a:rPr>
              <a:t>~1.5개월</a:t>
            </a:r>
          </a:p>
          <a:p>
            <a:pPr algn="l"/>
            <a:r>
              <a:rPr sz="1200" b="0">
                <a:solidFill>
                  <a:srgbClr val="8B949E"/>
                </a:solidFill>
                <a:latin typeface="Calibri"/>
                <a:ea typeface="맑은 고딕"/>
              </a:rPr>
              <a:t>3명의 전문가 협업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011680"/>
            <a:ext cx="38404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79" y="2011680"/>
            <a:ext cx="54864" cy="1828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9" y="219456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Calibri"/>
                <a:ea typeface="맑은 고딕"/>
              </a:rPr>
              <a:t>AI Driven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58A6FF"/>
                </a:solidFill>
                <a:latin typeface="Calibri"/>
                <a:ea typeface="맑은 고딕"/>
              </a:rPr>
              <a:t>~1시간</a:t>
            </a:r>
          </a:p>
          <a:p>
            <a:pPr algn="l"/>
            <a:r>
              <a:rPr sz="1200" b="0">
                <a:solidFill>
                  <a:srgbClr val="8B949E"/>
                </a:solidFill>
                <a:latin typeface="Calibri"/>
                <a:ea typeface="맑은 고딕"/>
              </a:rPr>
              <a:t>5~6개 에이전트 동시 협업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2926080" cy="182880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377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  <a:ea typeface="맑은 고딕"/>
              </a:rPr>
              <a:t>전체 시스템</a:t>
            </a:r>
          </a:p>
          <a:p>
            <a:pPr algn="l"/>
            <a:r>
              <a:rPr sz="1200" b="0">
                <a:solidFill>
                  <a:srgbClr val="8B949E"/>
                </a:solidFill>
                <a:latin typeface="Calibri"/>
                <a:ea typeface="맑은 고딕"/>
              </a:rPr>
              <a:t>앱 + AI + 백엔드 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4114800"/>
            <a:ext cx="38404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0" y="4114800"/>
            <a:ext cx="54864" cy="1828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4297680"/>
            <a:ext cx="3383280" cy="1143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3FB950"/>
                </a:solidFill>
                <a:latin typeface="Calibri"/>
                <a:ea typeface="맑은 고딕"/>
              </a:rPr>
              <a:t>Human Driven</a:t>
            </a:r>
          </a:p>
          <a:p>
            <a:pPr algn="l">
              <a:spcAft>
                <a:spcPts val="400"/>
              </a:spcAft>
            </a:pPr>
            <a:r>
              <a:rPr lang="ko-KR" altLang="en-US" sz="3600" b="1" dirty="0">
                <a:solidFill>
                  <a:srgbClr val="8B949E"/>
                </a:solidFill>
                <a:latin typeface="Calibri"/>
                <a:ea typeface="맑은 고딕"/>
              </a:rPr>
              <a:t>개발 중단</a:t>
            </a:r>
            <a:r>
              <a:rPr lang="en-US" altLang="ko-KR" sz="1200" b="1" dirty="0">
                <a:solidFill>
                  <a:srgbClr val="8B949E"/>
                </a:solidFill>
                <a:latin typeface="Calibri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8B949E"/>
                </a:solidFill>
                <a:latin typeface="Calibri"/>
                <a:ea typeface="맑은 고딕"/>
              </a:rPr>
              <a:t>알고리즘 집중</a:t>
            </a:r>
            <a:r>
              <a:rPr lang="en-US" altLang="ko-KR" sz="1200" b="1" dirty="0">
                <a:solidFill>
                  <a:srgbClr val="8B949E"/>
                </a:solidFill>
                <a:latin typeface="Calibri"/>
                <a:ea typeface="맑은 고딕"/>
              </a:rPr>
              <a:t>)</a:t>
            </a:r>
            <a:endParaRPr sz="3600" b="1" dirty="0">
              <a:solidFill>
                <a:srgbClr val="8B949E"/>
              </a:solidFill>
              <a:latin typeface="Calibri"/>
              <a:ea typeface="맑은 고딕"/>
            </a:endParaRPr>
          </a:p>
          <a:p>
            <a:pPr algn="l"/>
            <a:r>
              <a:rPr sz="1200" b="0" dirty="0" err="1">
                <a:solidFill>
                  <a:srgbClr val="8B949E"/>
                </a:solidFill>
                <a:latin typeface="Calibri"/>
                <a:ea typeface="맑은 고딕"/>
              </a:rPr>
              <a:t>앱</a:t>
            </a:r>
            <a:r>
              <a:rPr sz="12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200" b="0" dirty="0" err="1">
                <a:solidFill>
                  <a:srgbClr val="8B949E"/>
                </a:solidFill>
                <a:latin typeface="Calibri"/>
                <a:ea typeface="맑은 고딕"/>
              </a:rPr>
              <a:t>모듈</a:t>
            </a:r>
            <a:r>
              <a:rPr lang="ko-KR" altLang="en-US" sz="1200" b="0" dirty="0">
                <a:solidFill>
                  <a:srgbClr val="8B949E"/>
                </a:solidFill>
                <a:latin typeface="Calibri"/>
                <a:ea typeface="맑은 고딕"/>
              </a:rPr>
              <a:t> 프로토타입</a:t>
            </a:r>
            <a:r>
              <a:rPr sz="12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200" b="0" dirty="0" err="1">
                <a:solidFill>
                  <a:srgbClr val="8B949E"/>
                </a:solidFill>
                <a:latin typeface="Calibri"/>
                <a:ea typeface="맑은 고딕"/>
              </a:rPr>
              <a:t>완성</a:t>
            </a:r>
            <a:endParaRPr sz="1200" b="0" dirty="0">
              <a:solidFill>
                <a:srgbClr val="8B949E"/>
              </a:solidFill>
              <a:latin typeface="Calibri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55279" y="4114800"/>
            <a:ext cx="38404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4114800"/>
            <a:ext cx="54864" cy="1828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9" y="429768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8A6FF"/>
                </a:solidFill>
                <a:latin typeface="Calibri"/>
                <a:ea typeface="맑은 고딕"/>
              </a:rPr>
              <a:t>AI Driven</a:t>
            </a:r>
          </a:p>
          <a:p>
            <a:pPr algn="l">
              <a:spcAft>
                <a:spcPts val="400"/>
              </a:spcAft>
            </a:pPr>
            <a:r>
              <a:rPr sz="3600" b="1">
                <a:solidFill>
                  <a:srgbClr val="58A6FF"/>
                </a:solidFill>
                <a:latin typeface="Calibri"/>
                <a:ea typeface="맑은 고딕"/>
              </a:rPr>
              <a:t>~2일</a:t>
            </a:r>
          </a:p>
          <a:p>
            <a:pPr algn="l"/>
            <a:r>
              <a:rPr sz="1200" b="0">
                <a:solidFill>
                  <a:srgbClr val="8B949E"/>
                </a:solidFill>
                <a:latin typeface="Calibri"/>
                <a:ea typeface="맑은 고딕"/>
              </a:rPr>
              <a:t>실질 1일 미만 (토큰 한도 초과)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※ 추천 알고리즘 품질 또한 AI Driven이 더 만족스러운 결과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LESSON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써봐야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3383280" cy="3840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" cy="3840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목격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5개의 에이전트가</a:t>
            </a:r>
            <a:br/>
            <a:r>
              <a:t>동시에 소통하며</a:t>
            </a:r>
            <a:br/>
            <a:r>
              <a:t>코드를 생성하는</a:t>
            </a:r>
            <a:br/>
            <a:r>
              <a:t>광경을 목격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아무리 대체된다는 말을 들어도,</a:t>
            </a:r>
            <a:br/>
            <a:r>
              <a:t>직접 보면 위기감이 다릅니다.</a:t>
            </a:r>
            <a:br/>
            <a:br/>
            <a:r>
              <a:t>신입생부터 졸업생까지,</a:t>
            </a:r>
            <a:br/>
            <a:r>
              <a:t>어쩌면 교수님들도.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920240"/>
            <a:ext cx="3383280" cy="3840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920240"/>
            <a:ext cx="54864" cy="3840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방해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1460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인간이 LLM의</a:t>
            </a:r>
            <a:br/>
            <a:r>
              <a:t>작업 역량을</a:t>
            </a:r>
            <a:br/>
            <a:r>
              <a:t>방해합니다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977639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기존 철학을 유지하기 위해</a:t>
            </a:r>
            <a:br/>
            <a:r>
              <a:t>권한을 넘기지 않았더니</a:t>
            </a:r>
            <a:br/>
            <a:r>
              <a:t>진행이 안 됩니다.</a:t>
            </a:r>
            <a:br/>
            <a:br/>
            <a:r>
              <a:t>검토가 불가능한 영역입니다.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920240"/>
            <a:ext cx="3383280" cy="3840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1920240"/>
            <a:ext cx="54864" cy="3840480"/>
          </a:xfrm>
          <a:prstGeom prst="rect">
            <a:avLst/>
          </a:prstGeom>
          <a:solidFill>
            <a:srgbClr val="FFA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A657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이해하려 하지 말고</a:t>
            </a:r>
            <a:br/>
            <a:r>
              <a:t>잘 명령하고,</a:t>
            </a:r>
            <a:br/>
            <a:r>
              <a:t>이해할 수 있는</a:t>
            </a:r>
            <a:br/>
            <a:r>
              <a:t>내용을 요청하라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977639"/>
            <a:ext cx="29260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만들어진 코드를</a:t>
            </a:r>
            <a:br/>
            <a:r>
              <a:t>읽기가 힘듭니다.</a:t>
            </a:r>
            <a:br/>
            <a:r>
              <a:t>남이 써준 코드인데다가</a:t>
            </a:r>
            <a:br/>
            <a:r>
              <a:t>인간 최적화가 아닙니다.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943600"/>
            <a:ext cx="10911535" cy="64008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094363"/>
            <a:ext cx="1091153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latin typeface="Calibri"/>
                <a:ea typeface="맑은 고딕"/>
              </a:rPr>
              <a:t>느껴봐야</a:t>
            </a:r>
            <a:r>
              <a:rPr dirty="0">
                <a:latin typeface="Calibri"/>
                <a:ea typeface="맑은 고딕"/>
              </a:rPr>
              <a:t> </a:t>
            </a:r>
            <a:r>
              <a:rPr dirty="0" err="1">
                <a:latin typeface="Calibri"/>
                <a:ea typeface="맑은 고딕"/>
              </a:rPr>
              <a:t>합니다</a:t>
            </a:r>
            <a:r>
              <a:rPr dirty="0">
                <a:latin typeface="Calibri"/>
                <a:ea typeface="맑은 고딕"/>
              </a:rPr>
              <a:t>. </a:t>
            </a:r>
            <a:r>
              <a:rPr lang="ko-KR" altLang="en-US" dirty="0">
                <a:latin typeface="Calibri"/>
                <a:ea typeface="맑은 고딕"/>
              </a:rPr>
              <a:t>신입생부터 졸업생까지</a:t>
            </a:r>
            <a:r>
              <a:rPr lang="en-US" altLang="ko-KR" dirty="0">
                <a:latin typeface="Calibri"/>
                <a:ea typeface="맑은 고딕"/>
              </a:rPr>
              <a:t>.</a:t>
            </a:r>
            <a:endParaRPr dirty="0">
              <a:latin typeface="Calibri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LESSON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준비해야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502920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4864" cy="3200400"/>
          </a:xfrm>
          <a:prstGeom prst="rect">
            <a:avLst/>
          </a:prstGeom>
          <a:solidFill>
            <a:srgbClr val="C9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C9D1D9"/>
                </a:solidFill>
                <a:latin typeface="Calibri"/>
                <a:ea typeface="맑은 고딕"/>
              </a:rPr>
              <a:t>컴퓨터를 잘 쓰는 사람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▸  어떤 기능이 있는지 잘 안다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▸  필요한 프로그램을 다운받아 사용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▸  단축키 등으로 빠르게 작업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10896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011680"/>
            <a:ext cx="502920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54864" cy="3200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57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58A6FF"/>
                </a:solidFill>
                <a:latin typeface="Calibri"/>
                <a:ea typeface="맑은 고딕"/>
              </a:rPr>
              <a:t>AI Native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▸  어떤 작업이 가능한지 인지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▸  필요한 서비스를 잘 골라 사용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▸  스킬/플러그인으로 빠르게 완성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486400"/>
            <a:ext cx="9418320" cy="91440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557784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D700"/>
                </a:solidFill>
                <a:latin typeface="Calibri"/>
                <a:ea typeface="맑은 고딕"/>
              </a:rPr>
              <a:t>사람은 코드가 아닌 워크플로우를 생산합니다.</a:t>
            </a:r>
          </a:p>
          <a:p>
            <a:pPr algn="ctr"/>
            <a:r>
              <a:rPr sz="1300" b="0">
                <a:solidFill>
                  <a:srgbClr val="8B949E"/>
                </a:solidFill>
                <a:latin typeface="Calibri"/>
                <a:ea typeface="맑은 고딕"/>
              </a:rPr>
              <a:t>업무에 자주 사용하는 플러그인과 스킬을 준비해놓아야 AI를 잘 쓴다고 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LESSON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크게 봐야 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6400800" cy="2743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" cy="2743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943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FF6B6B"/>
                </a:solidFill>
                <a:latin typeface="Calibri"/>
                <a:ea typeface="맑은 고딕"/>
              </a:rPr>
              <a:t>실제 사례: 멀티 스택 통합 실패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AI가 스스로 기술 스택을 선정: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58A6FF"/>
                </a:solidFill>
                <a:latin typeface="Calibri"/>
                <a:ea typeface="맑은 고딕"/>
              </a:rPr>
              <a:t>  프론트: React  /  앱 엔진: Rust  /  AI 로직: Python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부분 로직은 훌륭하게 작성했지만,</a:t>
            </a:r>
          </a:p>
          <a:p>
            <a:pPr algn="l"/>
            <a:r>
              <a:rPr sz="1400" b="0">
                <a:solidFill>
                  <a:srgbClr val="C9D1D9"/>
                </a:solidFill>
                <a:latin typeface="Calibri"/>
                <a:ea typeface="맑은 고딕"/>
              </a:rPr>
              <a:t>통합 구동에서 실패 — 이상한 방향으로 헤맴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920240"/>
            <a:ext cx="4297680" cy="2743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920240"/>
            <a:ext cx="54864" cy="2743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2148840"/>
            <a:ext cx="3840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58A6FF"/>
                </a:solidFill>
                <a:latin typeface="Calibri"/>
                <a:ea typeface="맑은 고딕"/>
              </a:rPr>
              <a:t>시사점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9D1D9"/>
                </a:solidFill>
                <a:latin typeface="Calibri"/>
                <a:ea typeface="맑은 고딕"/>
              </a:rPr>
              <a:t>작은 그림을 보는 사람은
이미 사라졌습니다.</a:t>
            </a:r>
          </a:p>
          <a:p>
            <a:pPr algn="l"/>
            <a:r>
              <a:rPr sz="1400" b="0">
                <a:solidFill>
                  <a:srgbClr val="8B949E"/>
                </a:solidFill>
                <a:latin typeface="Calibri"/>
                <a:ea typeface="맑은 고딕"/>
              </a:rPr>
              <a:t>AI는 부분은 잘 합니다.
전체를 설계하는 것은
인간의 역할입니다.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37760"/>
            <a:ext cx="3520440" cy="155448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컴퓨터보다 계산이 빠르면</a:t>
            </a:r>
            <a:br/>
            <a:r>
              <a:t>직접 계산하세요.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4937760"/>
            <a:ext cx="3520440" cy="155448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39" y="512064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컴파일러보다 바이너리를</a:t>
            </a:r>
            <a:br/>
            <a:r>
              <a:t>잘 짜면 직접 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8" y="4937760"/>
            <a:ext cx="3520440" cy="155448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8" y="5120640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우리는 C를 씁니다.</a:t>
            </a:r>
            <a:br/>
            <a:r>
              <a:t>이제 사람은 시스템을</a:t>
            </a:r>
            <a:br/>
            <a:r>
              <a:t>설계할 줄 알아야 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8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0"/>
              </a:spcAft>
            </a:pPr>
            <a:r>
              <a:rPr sz="1600" b="0" dirty="0" err="1">
                <a:solidFill>
                  <a:srgbClr val="8B949E"/>
                </a:solidFill>
                <a:latin typeface="Calibri"/>
                <a:ea typeface="맑은 고딕"/>
              </a:rPr>
              <a:t>약</a:t>
            </a:r>
            <a:r>
              <a:rPr sz="1600" b="0" dirty="0">
                <a:solidFill>
                  <a:srgbClr val="8B949E"/>
                </a:solidFill>
                <a:latin typeface="Calibri"/>
                <a:ea typeface="맑은 고딕"/>
              </a:rPr>
              <a:t> 6개월 </a:t>
            </a:r>
            <a:r>
              <a:rPr sz="1600" b="0" dirty="0" err="1">
                <a:solidFill>
                  <a:srgbClr val="8B949E"/>
                </a:solidFill>
                <a:latin typeface="Calibri"/>
                <a:ea typeface="맑은 고딕"/>
              </a:rPr>
              <a:t>동안</a:t>
            </a:r>
            <a:r>
              <a:rPr sz="16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600" b="0" dirty="0" err="1">
                <a:solidFill>
                  <a:srgbClr val="8B949E"/>
                </a:solidFill>
                <a:latin typeface="Calibri"/>
                <a:ea typeface="맑은 고딕"/>
              </a:rPr>
              <a:t>세상이</a:t>
            </a:r>
            <a:r>
              <a:rPr sz="1600" b="0" dirty="0">
                <a:solidFill>
                  <a:srgbClr val="8B949E"/>
                </a:solidFill>
                <a:latin typeface="Calibri"/>
                <a:ea typeface="맑은 고딕"/>
              </a:rPr>
              <a:t> </a:t>
            </a:r>
            <a:r>
              <a:rPr sz="1600" b="0" dirty="0" err="1">
                <a:solidFill>
                  <a:srgbClr val="8B949E"/>
                </a:solidFill>
                <a:latin typeface="Calibri"/>
                <a:ea typeface="맑은 고딕"/>
              </a:rPr>
              <a:t>바뀌었습니다</a:t>
            </a:r>
            <a:r>
              <a:rPr sz="1600" b="0" dirty="0">
                <a:solidFill>
                  <a:srgbClr val="8B949E"/>
                </a:solidFill>
                <a:latin typeface="Calibri"/>
                <a:ea typeface="맑은 고딕"/>
              </a:rPr>
              <a:t>.</a:t>
            </a:r>
          </a:p>
          <a:p>
            <a:pPr algn="ctr">
              <a:spcAft>
                <a:spcPts val="400"/>
              </a:spcAft>
            </a:pPr>
            <a:r>
              <a:rPr sz="2800" b="1" dirty="0" err="1">
                <a:solidFill>
                  <a:srgbClr val="FFFFFF"/>
                </a:solidFill>
                <a:latin typeface="Calibri"/>
                <a:ea typeface="맑은 고딕"/>
              </a:rPr>
              <a:t>무어의</a:t>
            </a:r>
            <a:r>
              <a:rPr sz="2800" b="1" dirty="0">
                <a:solidFill>
                  <a:srgbClr val="FFFFFF"/>
                </a:solidFill>
                <a:latin typeface="Calibri"/>
                <a:ea typeface="맑은 고딕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  <a:ea typeface="맑은 고딕"/>
              </a:rPr>
              <a:t>법칙은</a:t>
            </a:r>
            <a:r>
              <a:rPr sz="2800" b="1" dirty="0">
                <a:solidFill>
                  <a:srgbClr val="FFFFFF"/>
                </a:solidFill>
                <a:latin typeface="Calibri"/>
                <a:ea typeface="맑은 고딕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Calibri"/>
                <a:ea typeface="맑은 고딕"/>
              </a:rPr>
              <a:t>이제</a:t>
            </a:r>
            <a:endParaRPr sz="2800" b="1" dirty="0">
              <a:solidFill>
                <a:srgbClr val="FFFFFF"/>
              </a:solidFill>
              <a:latin typeface="Calibri"/>
              <a:ea typeface="맑은 고딕"/>
            </a:endParaRPr>
          </a:p>
          <a:p>
            <a:pPr algn="ctr">
              <a:spcAft>
                <a:spcPts val="2400"/>
              </a:spcAft>
            </a:pPr>
            <a:r>
              <a:rPr sz="2800" b="1" dirty="0">
                <a:solidFill>
                  <a:srgbClr val="58A6FF"/>
                </a:solidFill>
                <a:latin typeface="Calibri"/>
                <a:ea typeface="맑은 고딕"/>
              </a:rPr>
              <a:t>CPU, </a:t>
            </a:r>
            <a:r>
              <a:rPr sz="2800" b="1" dirty="0" err="1">
                <a:solidFill>
                  <a:srgbClr val="58A6FF"/>
                </a:solidFill>
                <a:latin typeface="Calibri"/>
                <a:ea typeface="맑은 고딕"/>
              </a:rPr>
              <a:t>메모리를</a:t>
            </a:r>
            <a:r>
              <a:rPr sz="2800" b="1" dirty="0">
                <a:solidFill>
                  <a:srgbClr val="58A6FF"/>
                </a:solidFill>
                <a:latin typeface="Calibri"/>
                <a:ea typeface="맑은 고딕"/>
              </a:rPr>
              <a:t> </a:t>
            </a:r>
            <a:r>
              <a:rPr sz="2800" b="1" dirty="0" err="1">
                <a:solidFill>
                  <a:srgbClr val="58A6FF"/>
                </a:solidFill>
                <a:latin typeface="Calibri"/>
                <a:ea typeface="맑은 고딕"/>
              </a:rPr>
              <a:t>넘어</a:t>
            </a:r>
            <a:r>
              <a:rPr sz="2800" b="1" dirty="0">
                <a:solidFill>
                  <a:srgbClr val="58A6FF"/>
                </a:solidFill>
                <a:latin typeface="Calibri"/>
                <a:ea typeface="맑은 고딕"/>
              </a:rPr>
              <a:t> </a:t>
            </a:r>
            <a:r>
              <a:rPr sz="2800" b="1" dirty="0" err="1">
                <a:solidFill>
                  <a:srgbClr val="58A6FF"/>
                </a:solidFill>
                <a:latin typeface="Calibri"/>
                <a:ea typeface="맑은 고딕"/>
              </a:rPr>
              <a:t>AI로</a:t>
            </a:r>
            <a:r>
              <a:rPr sz="2800" b="1" dirty="0">
                <a:solidFill>
                  <a:srgbClr val="58A6FF"/>
                </a:solidFill>
                <a:latin typeface="Calibri"/>
                <a:ea typeface="맑은 고딕"/>
              </a:rPr>
              <a:t> </a:t>
            </a:r>
            <a:r>
              <a:rPr sz="2800" b="1" dirty="0" err="1">
                <a:solidFill>
                  <a:srgbClr val="58A6FF"/>
                </a:solidFill>
                <a:latin typeface="Calibri"/>
                <a:ea typeface="맑은 고딕"/>
              </a:rPr>
              <a:t>왔습니다</a:t>
            </a:r>
            <a:r>
              <a:rPr sz="2800" b="1">
                <a:solidFill>
                  <a:srgbClr val="58A6FF"/>
                </a:solidFill>
                <a:latin typeface="Calibri"/>
                <a:ea typeface="맑은 고딕"/>
              </a:rPr>
              <a:t>.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D700"/>
                </a:solidFill>
                <a:latin typeface="Calibri"/>
                <a:ea typeface="맑은 고딕"/>
              </a:rPr>
              <a:t>소프트웨어</a:t>
            </a:r>
            <a:r>
              <a:rPr sz="2200" b="1" dirty="0">
                <a:solidFill>
                  <a:srgbClr val="FFD700"/>
                </a:solidFill>
                <a:latin typeface="Calibri"/>
                <a:ea typeface="맑은 고딕"/>
              </a:rPr>
              <a:t> 3.0</a:t>
            </a:r>
          </a:p>
          <a:p>
            <a:pPr algn="ctr"/>
            <a:r>
              <a:rPr sz="1600" b="0" dirty="0" err="1">
                <a:solidFill>
                  <a:srgbClr val="C9D1D9"/>
                </a:solidFill>
                <a:latin typeface="Calibri"/>
                <a:ea typeface="맑은 고딕"/>
              </a:rPr>
              <a:t>하네스</a:t>
            </a:r>
            <a:r>
              <a:rPr sz="1600" b="0" dirty="0">
                <a:solidFill>
                  <a:srgbClr val="C9D1D9"/>
                </a:solidFill>
                <a:latin typeface="Calibri"/>
                <a:ea typeface="맑은 고딕"/>
              </a:rPr>
              <a:t>(Harness) — </a:t>
            </a:r>
            <a:r>
              <a:rPr sz="1600" b="0" dirty="0" err="1">
                <a:solidFill>
                  <a:srgbClr val="C9D1D9"/>
                </a:solidFill>
                <a:latin typeface="Calibri"/>
                <a:ea typeface="맑은 고딕"/>
              </a:rPr>
              <a:t>우리가</a:t>
            </a:r>
            <a:r>
              <a:rPr sz="16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600" b="0" dirty="0" err="1">
                <a:solidFill>
                  <a:srgbClr val="C9D1D9"/>
                </a:solidFill>
                <a:latin typeface="Calibri"/>
                <a:ea typeface="맑은 고딕"/>
              </a:rPr>
              <a:t>갖춰야</a:t>
            </a:r>
            <a:r>
              <a:rPr sz="16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600" b="0" dirty="0" err="1">
                <a:solidFill>
                  <a:srgbClr val="C9D1D9"/>
                </a:solidFill>
                <a:latin typeface="Calibri"/>
                <a:ea typeface="맑은 고딕"/>
              </a:rPr>
              <a:t>할</a:t>
            </a:r>
            <a:r>
              <a:rPr sz="1600" b="0" dirty="0">
                <a:solidFill>
                  <a:srgbClr val="C9D1D9"/>
                </a:solidFill>
                <a:latin typeface="Calibri"/>
                <a:ea typeface="맑은 고딕"/>
              </a:rPr>
              <a:t> </a:t>
            </a:r>
            <a:r>
              <a:rPr sz="1600" b="0" dirty="0" err="1">
                <a:solidFill>
                  <a:srgbClr val="C9D1D9"/>
                </a:solidFill>
                <a:latin typeface="Calibri"/>
                <a:ea typeface="맑은 고딕"/>
              </a:rPr>
              <a:t>능력</a:t>
            </a:r>
            <a:endParaRPr sz="1600" b="0" dirty="0">
              <a:solidFill>
                <a:srgbClr val="C9D1D9"/>
              </a:solidFill>
              <a:latin typeface="Calibri"/>
              <a:ea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0" y="4754880"/>
            <a:ext cx="7589520" cy="914400"/>
          </a:xfrm>
          <a:prstGeom prst="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4754880"/>
            <a:ext cx="7589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rPr>
                <a:latin typeface="Calibri"/>
                <a:ea typeface="맑은 고딕"/>
              </a:rPr>
              <a:t>사고의 틀을 바꾸고 앞서가십시오.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rPr>
                <a:latin typeface="Calibri"/>
                <a:ea typeface="맑은 고딕"/>
              </a:rPr>
              <a:t>감사합니다.  |  Team AISFA  |  PNU AI Booster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C3856E-573F-3E4C-9A03-25E78123C502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791</Words>
  <Application>Microsoft Macintosh PowerPoint</Application>
  <PresentationFormat>와이드스크린</PresentationFormat>
  <Paragraphs>146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성욱 김</cp:lastModifiedBy>
  <cp:revision>5</cp:revision>
  <dcterms:created xsi:type="dcterms:W3CDTF">2013-01-27T09:14:16Z</dcterms:created>
  <dcterms:modified xsi:type="dcterms:W3CDTF">2026-03-10T09:47:04Z</dcterms:modified>
  <cp:category/>
</cp:coreProperties>
</file>